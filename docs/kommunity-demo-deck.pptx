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822960" cy="8229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E2A55"/>
                </a:solidFill>
                <a:latin typeface="Calibri"/>
              </a:rPr>
              <a:t>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Run your association like it's run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7D0E8"/>
                </a:solidFill>
                <a:latin typeface="Calibri"/>
              </a:rPr>
              <a:t>Dues collected.   Records clear.   Members reached.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800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14B8A6"/>
                </a:solidFill>
                <a:latin typeface="Calibri"/>
              </a:rPr>
              <a:t>A live demo for association &amp; cooperative leaders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645920" cy="384048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2937"/>
                </a:solidFill>
                <a:latin typeface="Calibri"/>
              </a:rPr>
              <a:t>Running an association is hard where it matters most: the 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303520" cy="15087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788920"/>
            <a:ext cx="457200" cy="45720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700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Chasing dues by 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546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One treasurer, dozens of members, endless WhatsApp reminders.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68880"/>
            <a:ext cx="5303520" cy="15087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20840" y="2788920"/>
            <a:ext cx="457200" cy="45720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6700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Records in one person's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1546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A spreadsheet only they understand. Handover loses everything.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5303520" cy="15087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000" y="4526279"/>
            <a:ext cx="457200" cy="45720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407407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AGM arguments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9204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No clean report of what came in and where it went.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06240"/>
            <a:ext cx="5303520" cy="15087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20840" y="4526279"/>
            <a:ext cx="457200" cy="457200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4407407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Members don't hear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89204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</a:rPr>
              <a:t>Emails ignored; WhatsApp messages scroll away.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828800" cy="38404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828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E2A55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One place to run the whole association.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7D0E8"/>
                </a:solidFill>
                <a:latin typeface="Calibri"/>
              </a:rPr>
              <a:t>Members, dues, money and communication — built for how African associations and cooperatives actually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2468880" cy="96012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291840"/>
            <a:ext cx="2468880" cy="96012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329184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Dues &amp; arrears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2468880" cy="96012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29184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Financial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3291840"/>
            <a:ext cx="2468880" cy="96012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329184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SMS &amp;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2468880" cy="96012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Elections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572000"/>
            <a:ext cx="2468880" cy="96012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457200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Donations &amp; levies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2468880" cy="96012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57200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Payouts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572000"/>
            <a:ext cx="2468880" cy="96012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4572000"/>
            <a:ext cx="24688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Receipts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371600" cy="38404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E2A55"/>
                </a:solidFill>
                <a:latin typeface="Calibri"/>
              </a:rPr>
              <a:t>FEATURE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Collect dues online — money that lands in your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6035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Members pay by card or bank transfer, in naira.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With verified bank details, dues settle straight to the association's account.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Every payment gets an automatic digital receipt.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286000"/>
            <a:ext cx="4023360" cy="3108960"/>
          </a:xfrm>
          <a:prstGeom prst="roundRect">
            <a:avLst/>
          </a:prstGeom>
          <a:solidFill>
            <a:srgbClr val="1E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5603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7D0E8"/>
                </a:solidFill>
                <a:latin typeface="Calibri"/>
              </a:rPr>
              <a:t>First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92608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Get paid 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84048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C7D0E8"/>
                </a:solidFill>
                <a:latin typeface="Calibri"/>
              </a:rPr>
              <a:t>No more cash-in-envelopes, no reconciliation guesswork — collections show up in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371600" cy="38404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E2A55"/>
                </a:solidFill>
                <a:latin typeface="Calibri"/>
              </a:rPr>
              <a:t>FEATURE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Know exactly who hasn't paid.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The defaulters list every treasurer wishes they had — and the reminders send themselves.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3383280" cy="23774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54864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Collection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at a glance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383280" cy="23774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3108960"/>
            <a:ext cx="548640" cy="128016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33756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Defaulters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0690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who &amp; how much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743200"/>
            <a:ext cx="3383280" cy="23774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3108960"/>
            <a:ext cx="548640" cy="12801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33756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2937"/>
                </a:solidFill>
                <a:latin typeface="Calibri"/>
              </a:rPr>
              <a:t>Auto reminders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0690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SMS +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2F3C7E"/>
                </a:solidFill>
                <a:latin typeface="Calibri"/>
              </a:rPr>
              <a:t>Reminders go only to people who are behind — nobody gets spammed.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371600" cy="38404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E2A55"/>
                </a:solidFill>
                <a:latin typeface="Calibri"/>
              </a:rPr>
              <a:t>FEATURE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Every naira accounted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7D0E8"/>
                </a:solidFill>
                <a:latin typeface="Calibri"/>
              </a:rPr>
              <a:t>A clean income &amp; expenditure statement your treasurer can present at the AGM.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6400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 Income vs expenses, with surplus or deficit, per period.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 Record expenses with optional receipt evidence attached.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 Digital receipts on every payment.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 Export to Excel or print for meeting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651760"/>
            <a:ext cx="3749039" cy="2651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9260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6403B"/>
                </a:solidFill>
                <a:latin typeface="Calibri"/>
              </a:rPr>
              <a:t>The AGM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33756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E2A55"/>
                </a:solidFill>
                <a:latin typeface="Calibri"/>
              </a:rPr>
              <a:t>Clear &amp; trusted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11480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6403B"/>
                </a:solidFill>
                <a:latin typeface="Calibri"/>
              </a:rPr>
              <a:t>Trust is built on members seeing that their money is well handled.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371600" cy="38404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E2A55"/>
                </a:solidFill>
                <a:latin typeface="Calibri"/>
              </a:rPr>
              <a:t>FEATURE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Reach members where they actually 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0058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6517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377440"/>
            <a:ext cx="29260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3C7E"/>
                </a:solidFill>
                <a:latin typeface="Calibri"/>
              </a:rPr>
              <a:t>SMS +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6400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Calibri"/>
              </a:rPr>
              <a:t>Dues reminders, meeting notices, announcements and birthdays.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10515600" cy="10058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37947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520440"/>
            <a:ext cx="29260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3C7E"/>
                </a:solidFill>
                <a:latin typeface="Calibri"/>
              </a:rPr>
              <a:t>Pay-as-you-go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520440"/>
            <a:ext cx="6400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Calibri"/>
              </a:rPr>
              <a:t>Prepaid SMS wallet, no monthly fee, no mark-up.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63440"/>
            <a:ext cx="10515600" cy="10058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000" y="4937759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4663440"/>
            <a:ext cx="29260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3C7E"/>
                </a:solidFill>
                <a:latin typeface="Calibri"/>
              </a:rPr>
              <a:t>You 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663440"/>
            <a:ext cx="6400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2937"/>
                </a:solidFill>
                <a:latin typeface="Calibri"/>
              </a:rPr>
              <a:t>Turn SMS on or off, and pick which messages use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280160" cy="384048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AND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Everything else an association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303520" cy="15544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7860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3C7E"/>
                </a:solidFill>
                <a:latin typeface="Calibri"/>
              </a:rPr>
              <a:t>Elections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90672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Transparent exco voting — one member, one vote, results you can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303520" cy="15544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57860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3C7E"/>
                </a:solidFill>
                <a:latin typeface="Calibri"/>
              </a:rPr>
              <a:t>Donations &amp; levies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090672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Shareable links for projects and one-off collections.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5303520" cy="15544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6168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3C7E"/>
                </a:solidFill>
                <a:latin typeface="Calibri"/>
              </a:rPr>
              <a:t>Member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73752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Every member, chapter and contact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60520"/>
            <a:ext cx="5303520" cy="15544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36168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F3C7E"/>
                </a:solidFill>
                <a:latin typeface="Calibri"/>
              </a:rPr>
              <a:t>Birthdays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873752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B7280"/>
                </a:solidFill>
                <a:latin typeface="Calibri"/>
              </a:rPr>
              <a:t>Automatic greetings that make members feel seen.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280160" cy="38404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E2A55"/>
                </a:solidFill>
                <a:latin typeface="Calibri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Fair, naira pricing. Free to start.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383280" cy="292608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Calibri"/>
              </a:rPr>
              <a:t>Start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29000"/>
            <a:ext cx="2788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C7D0E8"/>
                </a:solidFill>
                <a:latin typeface="Calibri"/>
              </a:rPr>
              <a:t>Set up your community and try it — no card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383280" cy="292608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Calibri"/>
              </a:rPr>
              <a:t>Pay as you grow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429000"/>
            <a:ext cx="2788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C7D0E8"/>
                </a:solidFill>
                <a:latin typeface="Calibri"/>
              </a:rPr>
              <a:t>Priced in naira. Monthly, or yearly for two months free.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377440"/>
            <a:ext cx="3383280" cy="2926080"/>
          </a:xfrm>
          <a:prstGeom prst="roundRect">
            <a:avLst/>
          </a:prstGeom>
          <a:solidFill>
            <a:srgbClr val="1E2A5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7432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Calibri"/>
              </a:rPr>
              <a:t>No surprises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429000"/>
            <a:ext cx="2788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C7D0E8"/>
                </a:solidFill>
                <a:latin typeface="Calibri"/>
              </a:rPr>
              <a:t>SMS is prepaid and pass-through. No hidden fees.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645920" cy="384048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645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WHY KOMMUNITY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F2937"/>
                </a:solidFill>
                <a:latin typeface="Calibri"/>
              </a:rPr>
              <a:t>Built for you — not adapted from somewhere else.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688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Built for Nigerian associations &amp; cooperatives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3375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Your member data stays yours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2062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Transparent by design — receipts &amp; reports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507492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Works on the phone in your pocket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Kommunity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Let's set up your association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C7D0E8"/>
                </a:solidFill>
                <a:latin typeface="Calibri"/>
              </a:rPr>
              <a:t>Start free — and we'll help you import your members and set up your dues.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06240"/>
            <a:ext cx="3291840" cy="7772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3291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E2A55"/>
                </a:solidFill>
                <a:latin typeface="Calibri"/>
              </a:rPr>
              <a:t>Start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5780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7D0E8"/>
                </a:solidFill>
                <a:latin typeface="Calibri"/>
              </a:rPr>
              <a:t>hello@akenrose.com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7D0E8"/>
                </a:solidFill>
                <a:latin typeface="Calibri"/>
              </a:rPr>
              <a:t>+234 708 974 1989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7D0E8"/>
                </a:solidFill>
                <a:latin typeface="Calibri"/>
              </a:rPr>
              <a:t>Lagos, Nigeria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